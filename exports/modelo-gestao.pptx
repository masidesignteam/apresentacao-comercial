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pic>
        <p:nvPicPr>
          <p:cNvPr id="6" name="Image 0" descr="/Users/lucaszerlotini/Documents/apresentação-comercial-mn/public/logos/primary/masi-primary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635" y="685635"/>
            <a:ext cx="582692" cy="1752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70201" y="685635"/>
            <a:ext cx="47331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23 - Capa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685635" y="2096829"/>
            <a:ext cx="5231339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7800" dirty="0"/>
          </a:p>
        </p:txBody>
      </p:sp>
      <p:sp>
        <p:nvSpPr>
          <p:cNvPr id="9" name="Text 6"/>
          <p:cNvSpPr/>
          <p:nvPr/>
        </p:nvSpPr>
        <p:spPr>
          <a:xfrm>
            <a:off x="685635" y="4010851"/>
            <a:ext cx="5231339" cy="8054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DNA que guia operação consistente, decisões ágeis e objetivos de longo prazo da organização.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85635" y="5303840"/>
            <a:ext cx="617065" cy="259077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635" y="5303840"/>
            <a:ext cx="617065" cy="259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46479" y="5303840"/>
            <a:ext cx="845610" cy="259077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46479" y="5303840"/>
            <a:ext cx="845610" cy="259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35868" y="5303840"/>
            <a:ext cx="845610" cy="259077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35868" y="5303840"/>
            <a:ext cx="845610" cy="259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70201" y="1013302"/>
            <a:ext cx="4733116" cy="4549615"/>
          </a:xfrm>
          <a:prstGeom prst="roundRect">
            <a:avLst>
              <a:gd name="adj" fmla="val 134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26378" y="1932408"/>
            <a:ext cx="2820762" cy="2711402"/>
          </a:xfrm>
          <a:prstGeom prst="ellipse">
            <a:avLst/>
          </a:prstGeom>
          <a:ln w="6350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62323" y="2447575"/>
            <a:ext cx="1748872" cy="1681069"/>
          </a:xfrm>
          <a:prstGeom prst="ellipse">
            <a:avLst/>
          </a:prstGeom>
          <a:ln w="6350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559873" y="2159805"/>
            <a:ext cx="507737" cy="507737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58203" y="1625849"/>
            <a:ext cx="108725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23 - Planejamento Estratégico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58203" y="1854449"/>
            <a:ext cx="10872545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processo de definir a direção da empresa e tomar decisões sobre a alocação de recursos para seguir essa direção.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658203" y="3741039"/>
            <a:ext cx="1957054" cy="45720"/>
          </a:xfrm>
          <a:prstGeom prst="roundRect">
            <a:avLst>
              <a:gd name="adj" fmla="val 50000"/>
            </a:avLst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203" y="4274317"/>
            <a:ext cx="10872545" cy="729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 liderança, prioridades e execução em torno do que realmente importa.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23 - Pilares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pilares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estratégia começa com clareza sobre o destino e sobre os meios disponíveis para chegar lá.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3172346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1848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queremos chegar? Qual é o nosso norte estratégico?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3172346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1848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Tempo, dinheiro e pessoas focados no que importa.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23 - Importância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isso é importante?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planejamento transforma intenção em direção clara, alinhamento e velocidade de execução.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Clareza de direção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sabem para onde a empresa está indo.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 total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liderança e operação na mesma direção.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melhores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critério e menos improviso no dia a dia.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8559384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654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54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654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rápidas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87654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quando o negócio precisa reagir.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454439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23 - Mitos e Verdades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081872"/>
            <a:ext cx="4544397" cy="743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 e Verdades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961369" y="761832"/>
            <a:ext cx="5541947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planejamento ainda carrega crenças que travam empresas antes mesmo de começar.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635" y="2312536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8655" y="2585556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8655" y="2859876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Mito: só para grandes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8655" y="3408516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Verdade: é fundamental para qualquer empresa que queira crescer.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52932" y="2312536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5952" y="2585556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525952" y="2859876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Mito: demora e não dá resultado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25952" y="3408516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Verdade: pode ser ágil e adaptado à realidade do negócio.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85635" y="4477058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8655" y="4750078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8655" y="5024398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Mito: só gera papel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8655" y="5573038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Verdade: aumenta clareza mental e decisões mais assertivas.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252932" y="4477058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5952" y="4750078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525952" y="5024398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Mito: engessa a empresa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25952" y="5573038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Verdade: estratégia gera execução com mais foco e ritmo.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45836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23 - Estrutura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3518090"/>
            <a:ext cx="4583649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Estratégica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685635" y="4590608"/>
            <a:ext cx="4583649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 componentes que formam o sistema completo de gestão estratégica de uma organização.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22511" y="685635"/>
            <a:ext cx="5380805" cy="3705478"/>
          </a:xfrm>
          <a:prstGeom prst="roundRect">
            <a:avLst>
              <a:gd name="adj" fmla="val 1645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2511" y="5000561"/>
            <a:ext cx="1549823" cy="562356"/>
          </a:xfrm>
          <a:prstGeom prst="roundRect">
            <a:avLst>
              <a:gd name="adj" fmla="val 10837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46497" y="5124547"/>
            <a:ext cx="1301851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246497" y="5353147"/>
            <a:ext cx="1301851" cy="85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· Core Values · Strategic Intentions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38002" y="5000561"/>
            <a:ext cx="1549823" cy="562356"/>
          </a:xfrm>
          <a:prstGeom prst="roundRect">
            <a:avLst>
              <a:gd name="adj" fmla="val 10837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61988" y="5124547"/>
            <a:ext cx="1301851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161988" y="5353147"/>
            <a:ext cx="1301851" cy="85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BHAG · Strategies · Projects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53494" y="5000561"/>
            <a:ext cx="1549823" cy="562356"/>
          </a:xfrm>
          <a:prstGeom prst="roundRect">
            <a:avLst>
              <a:gd name="adj" fmla="val 10837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77480" y="5124547"/>
            <a:ext cx="1301851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077480" y="5353147"/>
            <a:ext cx="1301851" cy="85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· Scoreboards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23 - Ciclo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é um ciclo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movimentos trimestrais que transformam estratégia em aprendizado contínuo.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01–03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objetivos e metas claras para o período.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04–06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rotas com base nos resultados obtidos.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07–09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gaps nos processos e nas pessoas.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8559384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654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54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654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10–12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87654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resultados e definir o próximo ciclo.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23 - Metodologia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nosso jeito de fazer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etapas que guiam o processo de planejamento do início à execução real.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Direção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queremos chegar?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Diagnóstico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estamos agora?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Metas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medir?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8559384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654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54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654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Plano Tático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87654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fazer e como chegar lá?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454439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23 - Ferramentas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081872"/>
            <a:ext cx="4544397" cy="743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por etapa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961369" y="761832"/>
            <a:ext cx="5541947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etapa do método tem ferramentas específicas para gerar resultado com mais precisão.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635" y="2312536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8655" y="2585556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8655" y="2859876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8655" y="3408516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· OKR · Visão de longo prazo · Propósito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52932" y="2312536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5952" y="2585556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525952" y="2859876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25952" y="3408516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SWOT completa da organização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85635" y="4477058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8655" y="4750078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8655" y="5024398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 Objetivos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8655" y="5573038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SMART para metas mensuráveis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252932" y="4477058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5952" y="4750078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525952" y="5024398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Tático e Execução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25952" y="5573038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· PDCA · Gestão · KPI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58203" y="658203"/>
            <a:ext cx="108725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23 - Módulo 2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58203" y="1374361"/>
            <a:ext cx="10872545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Estratégica</a:t>
            </a:r>
            <a:endParaRPr lang="en-US" sz="3975" dirty="0"/>
          </a:p>
        </p:txBody>
      </p:sp>
      <p:sp>
        <p:nvSpPr>
          <p:cNvPr id="7" name="Text 5"/>
          <p:cNvSpPr/>
          <p:nvPr/>
        </p:nvSpPr>
        <p:spPr>
          <a:xfrm>
            <a:off x="658203" y="2637331"/>
            <a:ext cx="8154409" cy="729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qualquer plano, é preciso saber para onde a empresa está indo. Sem norte, não há estratégia.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8203" y="4341681"/>
            <a:ext cx="10872545" cy="304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"Onde queremos chegar?"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58203" y="1718432"/>
            <a:ext cx="108725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23 - Princípio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58203" y="1947032"/>
            <a:ext cx="10872545" cy="1213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propósito move a empresa, a visão mantém o foco mesmo nos momentos de turbulência.</a:t>
            </a:r>
            <a:endParaRPr lang="en-US" sz="4425" dirty="0"/>
          </a:p>
        </p:txBody>
      </p:sp>
      <p:sp>
        <p:nvSpPr>
          <p:cNvPr id="7" name="Shape 5"/>
          <p:cNvSpPr/>
          <p:nvPr/>
        </p:nvSpPr>
        <p:spPr>
          <a:xfrm>
            <a:off x="658203" y="3648456"/>
            <a:ext cx="1957054" cy="45720"/>
          </a:xfrm>
          <a:prstGeom prst="roundRect">
            <a:avLst>
              <a:gd name="adj" fmla="val 50000"/>
            </a:avLst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203" y="4181734"/>
            <a:ext cx="10872545" cy="729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não é destino fixo — é o norte que orienta cada decisão, cada recurso e cada prioridade.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23 - Direção Clara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ter direção clara?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direção definida, a energia do time se dispersa em urgências que não constroem o futuro.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entendem e defendem os mesmos objetivos.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Decisão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 a dizer não ao que desvia do plano.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claro gera comprometimento real.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8559384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654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54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654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87654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acontecem com mais clareza e agilidade.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454439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23 - Framework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081872"/>
            <a:ext cx="4544397" cy="743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Visão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961369" y="761832"/>
            <a:ext cx="5541947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elementos que estruturam a direção estratégica de qualquer organização.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635" y="2312536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8655" y="2585556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8655" y="2859876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8655" y="3408516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existimos? O propósito central da organização.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52932" y="2312536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5952" y="2585556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525952" y="2859876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25952" y="3408516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queremos chegar no longo prazo?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85635" y="4477058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8655" y="4750078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8655" y="5024398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Sonho Grande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8655" y="5573038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transformação queremos gerar no mundo?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252932" y="4477058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5952" y="4750078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525952" y="5024398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25952" y="5573038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fazemos o que fazemos todos os dias?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23 - Exemplo Aplicado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Masi Negócios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Masi Negócios aplica o Framework de Visão na prática da sua gestão.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o principal movimento de aceleração estratégica do Brasil.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Impactar milhares de empresários construindo negócios mais inteligentes.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Sonho Grande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Impactar 100 mil empresas, elevando o nível do empresário brasileiro.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23 - Como Fazer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fazer na sua empresa?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princípios para construir uma visão que gere comprometimento real no time.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Clareza Emocional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Grandes visões criam algo que gera compromisso genuíno.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Maior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empresa precisa de um motivo que valha a pena construir.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Lógico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Conecte propósito, posicionamento e visão em uma linha.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8559384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654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54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654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87654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Simplicidade: se ninguém lembrar, não funciona.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23 - Atividade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Chegou a sua vez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prático para aplicar o Framework de Visão à realidade da sua empresa.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minutos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 o Framework de Visão da sua empresa.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Traga exemplos concretos do seu negócio.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Compartilhe com o grupo e receba feedback.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8559384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654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654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654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Fino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87654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com base nos insights coletivos do grupo.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58203" y="658203"/>
            <a:ext cx="108725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23 - Pausa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58203" y="1374361"/>
            <a:ext cx="10872545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para Almoço</a:t>
            </a:r>
            <a:endParaRPr lang="en-US" sz="3975" dirty="0"/>
          </a:p>
        </p:txBody>
      </p:sp>
      <p:sp>
        <p:nvSpPr>
          <p:cNvPr id="7" name="Text 5"/>
          <p:cNvSpPr/>
          <p:nvPr/>
        </p:nvSpPr>
        <p:spPr>
          <a:xfrm>
            <a:off x="658203" y="2637331"/>
            <a:ext cx="8154409" cy="729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Networking, troca de experiências e conexão entre empresários.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8203" y="4341681"/>
            <a:ext cx="10872545" cy="304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"12:00 → 14:00"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58203" y="658203"/>
            <a:ext cx="108725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23 - Módulo 3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58203" y="1374361"/>
            <a:ext cx="10872545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Negócio</a:t>
            </a:r>
            <a:endParaRPr lang="en-US" sz="3975" dirty="0"/>
          </a:p>
        </p:txBody>
      </p:sp>
      <p:sp>
        <p:nvSpPr>
          <p:cNvPr id="7" name="Text 5"/>
          <p:cNvSpPr/>
          <p:nvPr/>
        </p:nvSpPr>
        <p:spPr>
          <a:xfrm>
            <a:off x="658203" y="2637331"/>
            <a:ext cx="8154409" cy="729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definir para onde vamos, precisamos ter brutal honestidade sobre onde estamos pisando hoje.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8203" y="4341681"/>
            <a:ext cx="10872545" cy="304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"Onde estamos agora?"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58203" y="1625849"/>
            <a:ext cx="108725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23 - Diagnóstico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58203" y="1854449"/>
            <a:ext cx="10872545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sem diagnóstico não é plano, é apenas um palpite caro.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658203" y="3741039"/>
            <a:ext cx="1957054" cy="45720"/>
          </a:xfrm>
          <a:prstGeom prst="roundRect">
            <a:avLst>
              <a:gd name="adj" fmla="val 50000"/>
            </a:avLst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203" y="4274317"/>
            <a:ext cx="10872545" cy="729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diagnóstico honesto é o ponto de partida de qualquer estratégia que funciona na prática.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454439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23 - SWOT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081872"/>
            <a:ext cx="4544397" cy="743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SWOT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961369" y="761832"/>
            <a:ext cx="5541947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dimensões para enxergar a empresa de forma completa: de dentro e de fora.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635" y="2312536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8655" y="2585556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8655" y="2859876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8655" y="3408516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fazemos melhor que o mercado?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52932" y="2312536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5952" y="2585556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525952" y="2859876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Fraquezas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25952" y="3408516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trava nosso crescimento hoje?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85635" y="4477058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8655" y="4750078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58655" y="5024398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8655" y="5573038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mercado está oferecendo agora?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252932" y="4477058"/>
            <a:ext cx="5250384" cy="1847609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5952" y="4750078"/>
            <a:ext cx="4704344" cy="167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dirty="0">
                <a:solidFill>
                  <a:srgbClr val="5FC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525952" y="5024398"/>
            <a:ext cx="4704344" cy="4267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25952" y="5573038"/>
            <a:ext cx="4704344" cy="4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pode impactar negativamente o negócio?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23 - SWOT Exemplo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— Masi Negócios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Masi Negócios aplica o SWOT na prática da sua gestão estratégica.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Forças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forte, autoridade estratégica e networking qualificado.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do empreendedorismo, produtos digitais e IA.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direta e dependência do cenário econômico.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66" y="152366"/>
            <a:ext cx="11884219" cy="6553267"/>
          </a:xfrm>
          <a:prstGeom prst="roundRect">
            <a:avLst>
              <a:gd name="adj" fmla="val 930"/>
            </a:avLst>
          </a:prstGeom>
          <a:solidFill>
            <a:srgbClr val="ECECE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85635" y="685635"/>
            <a:ext cx="383281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5FC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23 - Como Fazer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85635" y="1645573"/>
            <a:ext cx="3832811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3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fazer na sua empresa?</a:t>
            </a:r>
            <a:endParaRPr lang="en-US" sz="3975" dirty="0"/>
          </a:p>
        </p:txBody>
      </p:sp>
      <p:sp>
        <p:nvSpPr>
          <p:cNvPr id="8" name="Text 6"/>
          <p:cNvSpPr/>
          <p:nvPr/>
        </p:nvSpPr>
        <p:spPr>
          <a:xfrm>
            <a:off x="5249783" y="761832"/>
            <a:ext cx="6253533" cy="9723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princípios para um SWOT que gera insights reais e não apenas listas bonitas.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9783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55859" y="3358396"/>
            <a:ext cx="365669" cy="365760"/>
          </a:xfrm>
          <a:prstGeom prst="ellipse">
            <a:avLst/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8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4558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Honestidade brutal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4558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sinceridade não existe evolução estratégica.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559384" y="3152321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5459" y="3358396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5459" y="3358396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765459" y="3830839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 específico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5459" y="4270364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Evite generalizações vagas — nomeie fatos reais.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249783" y="4921328"/>
            <a:ext cx="2943932" cy="1403339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18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5859" y="5127403"/>
            <a:ext cx="365669" cy="36576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5859" y="5127403"/>
            <a:ext cx="3656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455859" y="5599847"/>
            <a:ext cx="2531782" cy="37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Olhe para fora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455859" y="6039371"/>
            <a:ext cx="2531782" cy="79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5" dirty="0">
                <a:solidFill>
                  <a:srgbClr val="6363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Mercado, concorrência e tendências precisam entrar.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203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 Negócios - Design System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4476" y="6390129"/>
            <a:ext cx="5436273" cy="15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75" b="1" spc="7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Gestão</a:t>
            </a:r>
            <a:endParaRPr lang="en-US" sz="975" dirty="0"/>
          </a:p>
        </p:txBody>
      </p:sp>
      <p:pic>
        <p:nvPicPr>
          <p:cNvPr id="5" name="Image 0" descr="/Users/lucaszerlotini/Documents/apresentação-comercial-mn/public/logos/primary/masi-primary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203" y="658203"/>
            <a:ext cx="734693" cy="2209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203" y="658203"/>
            <a:ext cx="108725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5" b="1" spc="90" kern="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23 - Encerramento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658203" y="3173818"/>
            <a:ext cx="6385438" cy="1382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estratégica é um compromisso diário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58203" y="4861115"/>
            <a:ext cx="6385438" cy="7292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este modelo para organizar sua empresa, tomar decisões melhores e construir resultados com consistência.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18758" y="3173818"/>
            <a:ext cx="3511991" cy="216224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Negócios fortes são construídos quando visão e execução apontam ao mesmo lugar.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018758" y="5529386"/>
            <a:ext cx="3511991" cy="60963"/>
          </a:xfrm>
          <a:prstGeom prst="roundRect">
            <a:avLst>
              <a:gd name="adj" fmla="val 50000"/>
            </a:avLst>
          </a:prstGeom>
          <a:solidFill>
            <a:srgbClr val="5FC318"/>
          </a:solidFill>
          <a:ln w="12700">
            <a:solidFill>
              <a:srgbClr val="5FC31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Gestão</dc:title>
  <dc:subject>Pessoas, processos e estratégia alinhados.</dc:subject>
  <dc:creator>MASI Negócios</dc:creator>
  <cp:lastModifiedBy>MASI Negócios</cp:lastModifiedBy>
  <cp:revision>1</cp:revision>
  <dcterms:created xsi:type="dcterms:W3CDTF">2026-05-13T03:13:10Z</dcterms:created>
  <dcterms:modified xsi:type="dcterms:W3CDTF">2026-05-13T03:13:10Z</dcterms:modified>
</cp:coreProperties>
</file>